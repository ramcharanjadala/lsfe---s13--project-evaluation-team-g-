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66" r:id="rId2"/>
    <p:sldId id="373" r:id="rId3"/>
    <p:sldId id="374" r:id="rId4"/>
    <p:sldId id="375" r:id="rId5"/>
    <p:sldId id="376" r:id="rId6"/>
    <p:sldId id="367" r:id="rId7"/>
    <p:sldId id="377" r:id="rId8"/>
    <p:sldId id="380" r:id="rId9"/>
    <p:sldId id="384" r:id="rId10"/>
    <p:sldId id="385" r:id="rId11"/>
    <p:sldId id="381" r:id="rId12"/>
    <p:sldId id="382" r:id="rId13"/>
    <p:sldId id="3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65FCC-209A-4931-96C2-452AA0644F50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F0C84-8EEE-4DB0-A17B-850390600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5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90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9AFF-F8DA-41E1-2C60-6EA9E939C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5ADEE-90C7-1A77-8F2F-32AD30B09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C0C85-81D3-4BF8-33B9-011AEEA3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BC8B3-A6A5-8897-C678-BE95C3FC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EE353-0027-4CEF-FBA9-65984579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8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0EAA-7DB1-D0E1-731B-455D86FE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9F68-B70F-D338-26D5-2300CE64A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37EC-1FD2-8F9E-63FC-5450A068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91884-4925-DD45-59C6-963BD4F3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D4232-67A7-07B8-64C8-DB654753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08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43BC-F31F-1309-15DD-FDFED9C2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C220E-A127-7F76-C22B-B461A0B0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966B-7287-B538-2972-F67EC584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FC73F-9A62-B96A-1C68-6B9F4318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E509E-431F-85F5-2175-0CE318E5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06B-D1B5-FE42-4EBB-1DBD6052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1483C-A3E9-1A67-43BD-3070456B2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D180F-B100-661D-C6BF-1612F1EF9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31802-D6F6-957A-BCF6-CACCB590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2EF9-C8C0-1ECA-7F7B-72CC381A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D793D-5B9B-6868-5015-ED87FB18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63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2002-FD56-4FAD-EBB5-FFC6BFE6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B6853-B8A9-4F0A-CBA5-C0EB16483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2BB54-7DE4-4768-1CE0-59D0119C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CFEE-71BE-A55F-805F-CCDBD4E8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1734D-2112-16E5-E189-323C096CD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8ED0B7-6AA5-E372-1A14-DFB88C78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A7D18-E30C-7CB8-4C48-F8CF9282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3DB35-A984-91E2-ECCC-0FC1E973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1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3C1C-8416-83F9-7A39-4EE55F46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2B1C4-8443-604F-6A45-D0BF63B5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ACCC-02BC-ED97-2789-88F6D6B7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5AC47-7B4E-ECEB-6C91-E912A8BC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5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20BA7-0725-B37C-6C85-14B88EFF3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4F519-ECFF-47FF-6A4C-FC28C3DB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CD89-DB63-DAB0-FD65-74185524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16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BEFE-A1B3-7F94-6404-DA9B4630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BC149-433D-97B7-0994-7340D97F5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72590-93B8-B2F7-3830-BF5671EE8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5FC1E-54B9-66D7-BE76-806DE395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B41AC-C06F-615D-E0BB-CF32225F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37923-7658-F5B0-12C9-29C21071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39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742D-1879-EB79-2B54-8A0BA884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2A9160-A1EB-61B0-F4E5-7F81480BF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CD426-15B2-3984-DCF1-53091A153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7C58C-0BFF-6F2B-D1D1-FAE136B5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ADD2D-A36D-3B19-D998-D4737F73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CB625-351A-B13F-E063-9DFFA3D4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14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7603-4D3B-3ED5-2E24-B0072D7C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FB0C3-251A-5E41-C945-892C48CD6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1CE4D-33C2-953F-5B19-AC81389B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92E67-70D7-F5DA-C638-E5E35D4E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DE129-653F-F5DA-58A1-82E07E6C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93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891C1-9335-D921-347D-C00AE3F3E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DCF9-C419-EFBA-C560-8E38EB3B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88010-4CA8-3340-5ECE-34901474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D1EEB-1B68-DE94-C595-06325B0B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92BFD-D0BF-4353-921E-052C0D59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147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1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077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1F0C95-B73B-80E9-9B51-B99737C0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F0973-6AA9-BA18-BBEA-C5A761633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5D342-266C-9F83-6B71-D453B77A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95C3F-FB4B-447B-A506-4F33CEEB14A4}" type="datetimeFigureOut">
              <a:rPr lang="en-IN" smtClean="0"/>
              <a:pPr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998FA-3B10-F792-98B5-17A9C5920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7EA15-41A8-90F6-D867-9A45F8861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DFEDC-1F0F-4D7A-9B71-EFFCA120D7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1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665"/>
            <a:ext cx="5933395" cy="585920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444097" y="2417328"/>
            <a:ext cx="4694746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493746" y="2376484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C23FE0-03EE-2818-717E-5BE37D05CE6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098" y="212130"/>
            <a:ext cx="4694746" cy="1680087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210D59A5-B810-8982-605B-DDE7AD625585}"/>
              </a:ext>
            </a:extLst>
          </p:cNvPr>
          <p:cNvSpPr/>
          <p:nvPr/>
        </p:nvSpPr>
        <p:spPr>
          <a:xfrm>
            <a:off x="6949482" y="4857625"/>
            <a:ext cx="2235116" cy="518778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Calibri"/>
                <a:cs typeface="Poppins" panose="00000500000000000000" pitchFamily="2" charset="0"/>
                <a:sym typeface="Calibri"/>
              </a:rPr>
              <a:t>Exp - 5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5" name="Google Shape;476;p16">
            <a:extLst>
              <a:ext uri="{FF2B5EF4-FFF2-40B4-BE49-F238E27FC236}">
                <a16:creationId xmlns:a16="http://schemas.microsoft.com/office/drawing/2014/main" id="{5520EE48-BC9B-BB35-3CF6-D6E48A2BAD1C}"/>
              </a:ext>
            </a:extLst>
          </p:cNvPr>
          <p:cNvSpPr txBox="1"/>
          <p:nvPr/>
        </p:nvSpPr>
        <p:spPr>
          <a:xfrm>
            <a:off x="4467199" y="5455896"/>
            <a:ext cx="71996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457200">
              <a:defRPr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Verification of Flip flops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Google Shape;476;p16">
            <a:extLst>
              <a:ext uri="{FF2B5EF4-FFF2-40B4-BE49-F238E27FC236}">
                <a16:creationId xmlns:a16="http://schemas.microsoft.com/office/drawing/2014/main" id="{1B000028-2F8E-C454-8D41-EFD9B34FC310}"/>
              </a:ext>
            </a:extLst>
          </p:cNvPr>
          <p:cNvSpPr txBox="1"/>
          <p:nvPr/>
        </p:nvSpPr>
        <p:spPr>
          <a:xfrm>
            <a:off x="3992880" y="3529905"/>
            <a:ext cx="814832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defRPr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26EC1202E</a:t>
            </a:r>
          </a:p>
          <a:p>
            <a:pPr lvl="0" algn="ctr">
              <a:defRPr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Digital Design &amp; Computer Architecture </a:t>
            </a:r>
          </a:p>
        </p:txBody>
      </p:sp>
    </p:spTree>
    <p:extLst>
      <p:ext uri="{BB962C8B-B14F-4D97-AF65-F5344CB8AC3E}">
        <p14:creationId xmlns:p14="http://schemas.microsoft.com/office/powerpoint/2010/main" val="337624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2CA0E7-71F5-C9F7-5719-F39812FA4BCA}"/>
              </a:ext>
            </a:extLst>
          </p:cNvPr>
          <p:cNvSpPr txBox="1"/>
          <p:nvPr/>
        </p:nvSpPr>
        <p:spPr>
          <a:xfrm>
            <a:off x="635000" y="1336802"/>
            <a:ext cx="1376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Aim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57DAC09F-EABD-CC33-A36A-B3C8E9A2B079}"/>
              </a:ext>
            </a:extLst>
          </p:cNvPr>
          <p:cNvSpPr/>
          <p:nvPr/>
        </p:nvSpPr>
        <p:spPr>
          <a:xfrm>
            <a:off x="2627532" y="220047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ea typeface="Times New Roman" panose="02020603050405020304" pitchFamily="18" charset="0"/>
              </a:rPr>
              <a:t>Exp 5: Verification of Flip Flops</a:t>
            </a:r>
            <a:endParaRPr lang="en-US" sz="32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61166-AF24-7D99-CA70-7FF3FED913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Google Shape;76;p16">
            <a:extLst>
              <a:ext uri="{FF2B5EF4-FFF2-40B4-BE49-F238E27FC236}">
                <a16:creationId xmlns:a16="http://schemas.microsoft.com/office/drawing/2014/main" id="{F28C2FDE-E406-7ABA-85E6-D7E839FF1567}"/>
              </a:ext>
            </a:extLst>
          </p:cNvPr>
          <p:cNvSpPr txBox="1"/>
          <p:nvPr/>
        </p:nvSpPr>
        <p:spPr>
          <a:xfrm>
            <a:off x="1353820" y="2076842"/>
            <a:ext cx="9484360" cy="231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68300" algn="just">
              <a:lnSpc>
                <a:spcPct val="115000"/>
              </a:lnSpc>
              <a:buSzPts val="2200"/>
              <a:buChar char="●"/>
            </a:pPr>
            <a:r>
              <a:rPr lang="en-US" sz="2400" dirty="0">
                <a:cs typeface="Arial" panose="020B0604020202020204" pitchFamily="34" charset="0"/>
              </a:rPr>
              <a:t>To verify the truth tables of basic flip flops using ICs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17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2CA0E7-71F5-C9F7-5719-F39812FA4BCA}"/>
              </a:ext>
            </a:extLst>
          </p:cNvPr>
          <p:cNvSpPr txBox="1"/>
          <p:nvPr/>
        </p:nvSpPr>
        <p:spPr>
          <a:xfrm>
            <a:off x="664670" y="1320691"/>
            <a:ext cx="4353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Apparatus Required: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57DAC09F-EABD-CC33-A36A-B3C8E9A2B079}"/>
              </a:ext>
            </a:extLst>
          </p:cNvPr>
          <p:cNvSpPr/>
          <p:nvPr/>
        </p:nvSpPr>
        <p:spPr>
          <a:xfrm>
            <a:off x="2627532" y="194872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a typeface="Times New Roman" panose="02020603050405020304" pitchFamily="18" charset="0"/>
              </a:rPr>
              <a:t>Exp 5: Verification of Flip Flops</a:t>
            </a:r>
            <a:endParaRPr lang="en-US" sz="3200" dirty="0"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61166-AF24-7D99-CA70-7FF3FED913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595045-BEBD-7D8A-2AE1-B45D302BB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110867"/>
              </p:ext>
            </p:extLst>
          </p:nvPr>
        </p:nvGraphicFramePr>
        <p:xfrm>
          <a:off x="3783429" y="2182223"/>
          <a:ext cx="5781039" cy="22425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9570">
                  <a:extLst>
                    <a:ext uri="{9D8B030D-6E8A-4147-A177-3AD203B41FA5}">
                      <a16:colId xmlns:a16="http://schemas.microsoft.com/office/drawing/2014/main" val="2196095719"/>
                    </a:ext>
                  </a:extLst>
                </a:gridCol>
                <a:gridCol w="2654190">
                  <a:extLst>
                    <a:ext uri="{9D8B030D-6E8A-4147-A177-3AD203B41FA5}">
                      <a16:colId xmlns:a16="http://schemas.microsoft.com/office/drawing/2014/main" val="2408471875"/>
                    </a:ext>
                  </a:extLst>
                </a:gridCol>
                <a:gridCol w="2367279">
                  <a:extLst>
                    <a:ext uri="{9D8B030D-6E8A-4147-A177-3AD203B41FA5}">
                      <a16:colId xmlns:a16="http://schemas.microsoft.com/office/drawing/2014/main" val="2437963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 of the apparatus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Quantity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46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15000"/>
                        </a:lnSpc>
                        <a:buSzPts val="2200"/>
                        <a:buNone/>
                      </a:pPr>
                      <a:r>
                        <a:rPr lang="en-US" sz="1800" dirty="0">
                          <a:cs typeface="Arial" panose="020B0604020202020204" pitchFamily="34" charset="0"/>
                        </a:rPr>
                        <a:t>Digital IC trainer kit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67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800" dirty="0">
                          <a:cs typeface="Arial" panose="020B0604020202020204" pitchFamily="34" charset="0"/>
                        </a:rPr>
                        <a:t>IC 74LS74 (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 flip-flop)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82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cs typeface="Arial" panose="020B0604020202020204" pitchFamily="34" charset="0"/>
                        </a:rPr>
                        <a:t>IC 74LS76</a:t>
                      </a:r>
                      <a:r>
                        <a:rPr lang="en-US" sz="1800" baseline="0" dirty="0"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JK flip-flop)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32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cs typeface="Arial" panose="020B0604020202020204" pitchFamily="34" charset="0"/>
                        </a:rPr>
                        <a:t>IC 74LS00 (NAND Gate IC)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03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cs typeface="Arial" panose="020B0604020202020204" pitchFamily="34" charset="0"/>
                        </a:rPr>
                        <a:t>Connecting wires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As per requirement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3363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A4C012-DBDD-DA5A-506C-C80F4BFF79EA}"/>
              </a:ext>
            </a:extLst>
          </p:cNvPr>
          <p:cNvSpPr txBox="1"/>
          <p:nvPr/>
        </p:nvSpPr>
        <p:spPr>
          <a:xfrm>
            <a:off x="1792430" y="2043610"/>
            <a:ext cx="1962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Hardware: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2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2CA0E7-71F5-C9F7-5719-F39812FA4BCA}"/>
              </a:ext>
            </a:extLst>
          </p:cNvPr>
          <p:cNvSpPr txBox="1"/>
          <p:nvPr/>
        </p:nvSpPr>
        <p:spPr>
          <a:xfrm>
            <a:off x="664670" y="1320691"/>
            <a:ext cx="4353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Theory: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57DAC09F-EABD-CC33-A36A-B3C8E9A2B079}"/>
              </a:ext>
            </a:extLst>
          </p:cNvPr>
          <p:cNvSpPr/>
          <p:nvPr/>
        </p:nvSpPr>
        <p:spPr>
          <a:xfrm>
            <a:off x="2627532" y="194872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a typeface="Times New Roman" panose="02020603050405020304" pitchFamily="18" charset="0"/>
              </a:rPr>
              <a:t>Exp 5: Verification of Flip Flops</a:t>
            </a:r>
            <a:endParaRPr lang="en-US" sz="3200" dirty="0"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61166-AF24-7D99-CA70-7FF3FED913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9" name="Google Shape;76;p16">
            <a:extLst>
              <a:ext uri="{FF2B5EF4-FFF2-40B4-BE49-F238E27FC236}">
                <a16:creationId xmlns:a16="http://schemas.microsoft.com/office/drawing/2014/main" id="{C51DED48-327B-8F19-F4BE-F81739868767}"/>
              </a:ext>
            </a:extLst>
          </p:cNvPr>
          <p:cNvSpPr txBox="1"/>
          <p:nvPr/>
        </p:nvSpPr>
        <p:spPr>
          <a:xfrm>
            <a:off x="664670" y="1909633"/>
            <a:ext cx="9109250" cy="142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8900" algn="just">
              <a:lnSpc>
                <a:spcPct val="115000"/>
              </a:lnSpc>
              <a:buSzPts val="2200"/>
            </a:pPr>
            <a:r>
              <a:rPr lang="en-US" sz="2400" dirty="0">
                <a:cs typeface="Arial" panose="020B0604020202020204" pitchFamily="34" charset="0"/>
              </a:rPr>
              <a:t>Write 1 or 2 paragraphs about the experiment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070C8-E5DD-98E7-EDF8-269B4BBE1CDE}"/>
              </a:ext>
            </a:extLst>
          </p:cNvPr>
          <p:cNvSpPr txBox="1"/>
          <p:nvPr/>
        </p:nvSpPr>
        <p:spPr>
          <a:xfrm>
            <a:off x="756110" y="3088641"/>
            <a:ext cx="4353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Procedure: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Google Shape;76;p16">
            <a:extLst>
              <a:ext uri="{FF2B5EF4-FFF2-40B4-BE49-F238E27FC236}">
                <a16:creationId xmlns:a16="http://schemas.microsoft.com/office/drawing/2014/main" id="{8CD826CA-7801-DDD9-9579-02532B770555}"/>
              </a:ext>
            </a:extLst>
          </p:cNvPr>
          <p:cNvSpPr txBox="1"/>
          <p:nvPr/>
        </p:nvSpPr>
        <p:spPr>
          <a:xfrm>
            <a:off x="756110" y="3677582"/>
            <a:ext cx="10277650" cy="203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Connections are made as per the circuit diagram.</a:t>
            </a:r>
          </a:p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Verified the connections carefully and switched on the power supply.</a:t>
            </a:r>
          </a:p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By applying the inputs, the LED outputs are observed and the operation is verified with the help of truth table.</a:t>
            </a:r>
          </a:p>
        </p:txBody>
      </p:sp>
    </p:spTree>
    <p:extLst>
      <p:ext uri="{BB962C8B-B14F-4D97-AF65-F5344CB8AC3E}">
        <p14:creationId xmlns:p14="http://schemas.microsoft.com/office/powerpoint/2010/main" val="7863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2CA0E7-71F5-C9F7-5719-F39812FA4BCA}"/>
              </a:ext>
            </a:extLst>
          </p:cNvPr>
          <p:cNvSpPr txBox="1"/>
          <p:nvPr/>
        </p:nvSpPr>
        <p:spPr>
          <a:xfrm>
            <a:off x="664670" y="1320691"/>
            <a:ext cx="4353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Precautions: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57DAC09F-EABD-CC33-A36A-B3C8E9A2B079}"/>
              </a:ext>
            </a:extLst>
          </p:cNvPr>
          <p:cNvSpPr/>
          <p:nvPr/>
        </p:nvSpPr>
        <p:spPr>
          <a:xfrm>
            <a:off x="2627532" y="194872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a typeface="Times New Roman" panose="02020603050405020304" pitchFamily="18" charset="0"/>
              </a:rPr>
              <a:t>Exp 5: Verification of Flip Flops</a:t>
            </a:r>
            <a:endParaRPr lang="en-US" sz="3200" dirty="0"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61166-AF24-7D99-CA70-7FF3FED913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A070C8-E5DD-98E7-EDF8-269B4BBE1CDE}"/>
              </a:ext>
            </a:extLst>
          </p:cNvPr>
          <p:cNvSpPr txBox="1"/>
          <p:nvPr/>
        </p:nvSpPr>
        <p:spPr>
          <a:xfrm>
            <a:off x="757325" y="3990048"/>
            <a:ext cx="4353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Result: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Google Shape;76;p16">
            <a:extLst>
              <a:ext uri="{FF2B5EF4-FFF2-40B4-BE49-F238E27FC236}">
                <a16:creationId xmlns:a16="http://schemas.microsoft.com/office/drawing/2014/main" id="{8CD826CA-7801-DDD9-9579-02532B770555}"/>
              </a:ext>
            </a:extLst>
          </p:cNvPr>
          <p:cNvSpPr txBox="1"/>
          <p:nvPr/>
        </p:nvSpPr>
        <p:spPr>
          <a:xfrm>
            <a:off x="664670" y="1877776"/>
            <a:ext cx="10277650" cy="1861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Connections must be tight on the bread board.</a:t>
            </a:r>
          </a:p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Identify the pins of the IC properly.</a:t>
            </a:r>
          </a:p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Take care while removing and inserting the IC on bread board.</a:t>
            </a:r>
          </a:p>
          <a:p>
            <a:pPr marL="431800" indent="-342900" algn="just">
              <a:lnSpc>
                <a:spcPct val="115000"/>
              </a:lnSpc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Switch off the power supply when not required</a:t>
            </a:r>
          </a:p>
        </p:txBody>
      </p:sp>
    </p:spTree>
    <p:extLst>
      <p:ext uri="{BB962C8B-B14F-4D97-AF65-F5344CB8AC3E}">
        <p14:creationId xmlns:p14="http://schemas.microsoft.com/office/powerpoint/2010/main" val="25599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2CA0E7-71F5-C9F7-5719-F39812FA4BCA}"/>
              </a:ext>
            </a:extLst>
          </p:cNvPr>
          <p:cNvSpPr txBox="1"/>
          <p:nvPr/>
        </p:nvSpPr>
        <p:spPr>
          <a:xfrm>
            <a:off x="441960" y="1674037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Block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57DAC09F-EABD-CC33-A36A-B3C8E9A2B079}"/>
              </a:ext>
            </a:extLst>
          </p:cNvPr>
          <p:cNvSpPr/>
          <p:nvPr/>
        </p:nvSpPr>
        <p:spPr>
          <a:xfrm>
            <a:off x="2627532" y="220047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SR Flip Flop using NAND Gates</a:t>
            </a:r>
            <a:endParaRPr lang="en-US" sz="3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61166-AF24-7D99-CA70-7FF3FED913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297AF3-C261-7F4F-0EA5-F9DE791F7865}"/>
              </a:ext>
            </a:extLst>
          </p:cNvPr>
          <p:cNvSpPr txBox="1"/>
          <p:nvPr/>
        </p:nvSpPr>
        <p:spPr>
          <a:xfrm>
            <a:off x="6269772" y="3260521"/>
            <a:ext cx="23088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Logic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7AB6A-820A-6953-A347-769D842FAAF0}"/>
              </a:ext>
            </a:extLst>
          </p:cNvPr>
          <p:cNvSpPr txBox="1"/>
          <p:nvPr/>
        </p:nvSpPr>
        <p:spPr>
          <a:xfrm>
            <a:off x="441960" y="3260521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Truth Table:</a:t>
            </a:r>
            <a:endParaRPr lang="en-US" sz="2200" dirty="0">
              <a:solidFill>
                <a:srgbClr val="000000"/>
              </a:solidFill>
            </a:endParaRP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1EF3038C-8C6B-1752-834C-5DDA930BA6EC}"/>
              </a:ext>
            </a:extLst>
          </p:cNvPr>
          <p:cNvGrpSpPr>
            <a:grpSpLocks/>
          </p:cNvGrpSpPr>
          <p:nvPr/>
        </p:nvGrpSpPr>
        <p:grpSpPr bwMode="auto">
          <a:xfrm>
            <a:off x="3111505" y="1329434"/>
            <a:ext cx="1955531" cy="1801649"/>
            <a:chOff x="2653" y="3067"/>
            <a:chExt cx="1020" cy="1021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A32A29D4-E03F-B583-9EB1-4D9CB289F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chemeClr val="bg2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rgbClr val="595959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rgbClr val="595959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rgbClr val="595959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rgbClr val="595959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1B25CA67-025D-B23B-65BB-3341B6EA7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80"/>
              <a:ext cx="2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rgbClr val="595959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rgbClr val="595959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rgbClr val="595959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rgbClr val="595959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N" altLang="en-US" sz="2400" b="1" i="1" dirty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alt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DA6BD1DC-A07D-0FBF-5502-CED089122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3F9134CD-3B69-C6BA-4776-529AA81C8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6754927F-A31B-AF29-044B-638839101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0EC96935-4030-A534-B47F-AF5EA183B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A82AA1D-3D36-62CB-135C-4031498E9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80734245-66C0-441C-EC72-D3DEBF4F4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6A351306-3B0B-046C-3A26-584A103B5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3180"/>
              <a:ext cx="227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rgbClr val="595959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rgbClr val="595959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rgbClr val="595959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rgbClr val="595959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i="1" dirty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7CC08479-BC3B-784A-93A7-94187C6832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rgbClr val="595959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rgbClr val="595959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rgbClr val="595959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rgbClr val="595959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9" name="Group 16">
              <a:extLst>
                <a:ext uri="{FF2B5EF4-FFF2-40B4-BE49-F238E27FC236}">
                  <a16:creationId xmlns:a16="http://schemas.microsoft.com/office/drawing/2014/main" id="{D468E05E-A54A-B60F-538E-4174AE927B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0" y="3760"/>
              <a:ext cx="227" cy="214"/>
              <a:chOff x="5074" y="1492"/>
              <a:chExt cx="227" cy="214"/>
            </a:xfrm>
          </p:grpSpPr>
          <p:sp>
            <p:nvSpPr>
              <p:cNvPr id="22" name="Rectangle 17">
                <a:extLst>
                  <a:ext uri="{FF2B5EF4-FFF2-40B4-BE49-F238E27FC236}">
                    <a16:creationId xmlns:a16="http://schemas.microsoft.com/office/drawing/2014/main" id="{9678B93A-3F96-DCC2-52E3-534F5BAB6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4" y="1499"/>
                <a:ext cx="227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rgbClr val="595959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rgbClr val="595959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rgbClr val="595959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rgbClr val="595959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rgbClr val="59595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rgbClr val="59595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rgbClr val="59595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rgbClr val="59595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rgbClr val="595959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1" i="1" dirty="0">
                    <a:solidFill>
                      <a:schemeClr val="accent2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23" name="Line 18">
                <a:extLst>
                  <a:ext uri="{FF2B5EF4-FFF2-40B4-BE49-F238E27FC236}">
                    <a16:creationId xmlns:a16="http://schemas.microsoft.com/office/drawing/2014/main" id="{675B4828-607C-5A67-9564-7912D299A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en-IN"/>
              </a:p>
            </p:txBody>
          </p:sp>
        </p:grp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06FE6FD5-4421-D24D-FF0E-791AAFE70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6B1011-1B7B-9B5E-E01D-1B4759B52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67"/>
              <a:ext cx="2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rgbClr val="595959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rgbClr val="595959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rgbClr val="595959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rgbClr val="595959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rgbClr val="595959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N" alt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endParaRPr lang="en-US" alt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24" name="Picture 4" descr="SR flip flop - Coding Ninjas">
            <a:extLst>
              <a:ext uri="{FF2B5EF4-FFF2-40B4-BE49-F238E27FC236}">
                <a16:creationId xmlns:a16="http://schemas.microsoft.com/office/drawing/2014/main" id="{06B600A5-EE77-082D-6958-2F037C114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358" y="3868728"/>
            <a:ext cx="5434548" cy="250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5" name="Group 32">
            <a:extLst>
              <a:ext uri="{FF2B5EF4-FFF2-40B4-BE49-F238E27FC236}">
                <a16:creationId xmlns:a16="http://schemas.microsoft.com/office/drawing/2014/main" id="{61B94D04-855F-5D39-82D6-A1F6C8FDA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873339"/>
              </p:ext>
            </p:extLst>
          </p:nvPr>
        </p:nvGraphicFramePr>
        <p:xfrm>
          <a:off x="950917" y="3868728"/>
          <a:ext cx="2812432" cy="2769220"/>
        </p:xfrm>
        <a:graphic>
          <a:graphicData uri="http://schemas.openxmlformats.org/drawingml/2006/table">
            <a:tbl>
              <a:tblPr/>
              <a:tblGrid>
                <a:gridCol w="702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8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S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I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R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Q (t+1)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Q (t)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Invalid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3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9AD3-F49B-F593-1676-BD0B052B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8E6B1E7-94AE-7A09-687A-E679AF6EDF4C}"/>
              </a:ext>
            </a:extLst>
          </p:cNvPr>
          <p:cNvSpPr txBox="1"/>
          <p:nvPr/>
        </p:nvSpPr>
        <p:spPr>
          <a:xfrm>
            <a:off x="441960" y="1674037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Block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0136545F-B1CB-DB9B-EF6A-E808EE1B4B46}"/>
              </a:ext>
            </a:extLst>
          </p:cNvPr>
          <p:cNvSpPr/>
          <p:nvPr/>
        </p:nvSpPr>
        <p:spPr>
          <a:xfrm>
            <a:off x="2627532" y="220047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JK Flip Flop using 74LS76 IC</a:t>
            </a:r>
            <a:endParaRPr lang="en-US" sz="3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9F78E-8BEC-9AAB-EF11-AE7844ADD6F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F78EAB-64D6-3E89-CEDB-480C5C6BDAB2}"/>
              </a:ext>
            </a:extLst>
          </p:cNvPr>
          <p:cNvSpPr txBox="1"/>
          <p:nvPr/>
        </p:nvSpPr>
        <p:spPr>
          <a:xfrm>
            <a:off x="6811010" y="1674036"/>
            <a:ext cx="23088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Pin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680B66D-A3DB-309F-2F7B-CB2DF4297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46" y="2420907"/>
            <a:ext cx="7262914" cy="38201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08214B-ECC7-E16D-F5A9-EF83475E2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" y="2549751"/>
            <a:ext cx="2940738" cy="356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8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B347-8525-E5E6-F549-28E3D552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6DA45EFD-11F7-BC9E-BF8E-6BF3ECCD7F4E}"/>
              </a:ext>
            </a:extLst>
          </p:cNvPr>
          <p:cNvSpPr/>
          <p:nvPr/>
        </p:nvSpPr>
        <p:spPr>
          <a:xfrm>
            <a:off x="2627532" y="220047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a typeface="Times New Roman" panose="02020603050405020304" pitchFamily="18" charset="0"/>
                <a:cs typeface="Times New Roman" panose="02020603050405020304" pitchFamily="18" charset="0"/>
              </a:rPr>
              <a:t>JK Flip Flop using 74LS76 IC</a:t>
            </a:r>
            <a:endParaRPr lang="en-US" sz="3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4343B-4FF4-8ED6-E8CC-66895621E38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40EC2C-93AB-3D5C-58B7-BDD863605726}"/>
              </a:ext>
            </a:extLst>
          </p:cNvPr>
          <p:cNvSpPr txBox="1"/>
          <p:nvPr/>
        </p:nvSpPr>
        <p:spPr>
          <a:xfrm>
            <a:off x="441960" y="1259933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Truth Table:</a:t>
            </a:r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B2C259-17DE-BB94-003D-6A74F8B88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098" y="1690820"/>
            <a:ext cx="6471803" cy="481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9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C1E0-D635-F169-2AEB-1D70F0E8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6EDD90-2892-1B95-D740-0308A3A50E3F}"/>
              </a:ext>
            </a:extLst>
          </p:cNvPr>
          <p:cNvSpPr txBox="1"/>
          <p:nvPr/>
        </p:nvSpPr>
        <p:spPr>
          <a:xfrm>
            <a:off x="441960" y="1674037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Block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D2D8ADB8-7305-64B3-52B1-45EAD7798858}"/>
              </a:ext>
            </a:extLst>
          </p:cNvPr>
          <p:cNvSpPr/>
          <p:nvPr/>
        </p:nvSpPr>
        <p:spPr>
          <a:xfrm>
            <a:off x="2464543" y="300039"/>
            <a:ext cx="7262914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 Flip Flop using JK Flip Flop (74LS76) IC</a:t>
            </a:r>
            <a:endParaRPr lang="en-US" sz="3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0EA0F-7BA0-4430-A7A1-FC39F00E02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816A4F-A226-F749-C2B6-2A494E14B415}"/>
              </a:ext>
            </a:extLst>
          </p:cNvPr>
          <p:cNvSpPr txBox="1"/>
          <p:nvPr/>
        </p:nvSpPr>
        <p:spPr>
          <a:xfrm>
            <a:off x="6811010" y="1674036"/>
            <a:ext cx="23088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Pin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BDE34E3-D0B8-DD1F-F928-5E59803F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46" y="2420907"/>
            <a:ext cx="7262914" cy="3820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2870B4-D6ED-EEDA-6588-6F3D54585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66" y="2520208"/>
            <a:ext cx="2969334" cy="336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CC6D-26FC-9AAB-1CF0-23F98835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82E21-A8A8-41B3-172D-849C950058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71460-B4C9-23B2-F79C-E1D4478DE333}"/>
              </a:ext>
            </a:extLst>
          </p:cNvPr>
          <p:cNvSpPr txBox="1"/>
          <p:nvPr/>
        </p:nvSpPr>
        <p:spPr>
          <a:xfrm>
            <a:off x="441960" y="1259933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Truth Table: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70B20BCF-C29F-2E88-AF1B-0AB33494F11E}"/>
              </a:ext>
            </a:extLst>
          </p:cNvPr>
          <p:cNvSpPr/>
          <p:nvPr/>
        </p:nvSpPr>
        <p:spPr>
          <a:xfrm>
            <a:off x="2464543" y="300039"/>
            <a:ext cx="7262914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 Flip Flop using JK Flip Flop (74LS76) IC</a:t>
            </a:r>
            <a:endParaRPr lang="en-US" sz="3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C8C1C8-F513-45F8-13EF-A8F4ECA01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159" y="1690820"/>
            <a:ext cx="5807682" cy="465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7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5E07E-98DA-EA8D-440E-C665292B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CE154DE-4A8D-6A72-4B60-BA2710E70795}"/>
              </a:ext>
            </a:extLst>
          </p:cNvPr>
          <p:cNvSpPr txBox="1"/>
          <p:nvPr/>
        </p:nvSpPr>
        <p:spPr>
          <a:xfrm>
            <a:off x="441960" y="1674037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Block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D4C7D6E1-ECB8-0A2B-1312-1210E7E964C2}"/>
              </a:ext>
            </a:extLst>
          </p:cNvPr>
          <p:cNvSpPr/>
          <p:nvPr/>
        </p:nvSpPr>
        <p:spPr>
          <a:xfrm>
            <a:off x="2627532" y="220047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 Flip Flop using 74LS74 IC</a:t>
            </a:r>
            <a:endParaRPr lang="en-US" sz="3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A5003-C2DC-5952-1F43-6E56528123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8F47E8-A3DA-5563-A70E-136BD42E98F0}"/>
              </a:ext>
            </a:extLst>
          </p:cNvPr>
          <p:cNvSpPr txBox="1"/>
          <p:nvPr/>
        </p:nvSpPr>
        <p:spPr>
          <a:xfrm>
            <a:off x="6648450" y="1674036"/>
            <a:ext cx="23088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Pin Diagram:</a:t>
            </a:r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B7AB2-8983-ED8C-42B6-A93F8B773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27" y="2798855"/>
            <a:ext cx="2421118" cy="2790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4573D-019A-55F5-777A-DC5C5EE7C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700" y="2341808"/>
            <a:ext cx="4681313" cy="405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8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B249-AD55-AFD6-74A3-9DBF49A40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81017231-5FF5-194A-25D5-AD0509AD2C3B}"/>
              </a:ext>
            </a:extLst>
          </p:cNvPr>
          <p:cNvSpPr/>
          <p:nvPr/>
        </p:nvSpPr>
        <p:spPr>
          <a:xfrm>
            <a:off x="2627532" y="220047"/>
            <a:ext cx="6936936" cy="76005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3995" marR="216535" algn="ctr">
              <a:spcBef>
                <a:spcPts val="0"/>
              </a:spcBef>
              <a:spcAft>
                <a:spcPts val="0"/>
              </a:spcAft>
            </a:pPr>
            <a:r>
              <a:rPr lang="en-US" sz="3200" b="1" spc="-20" dirty="0">
                <a:ea typeface="Times New Roman" panose="02020603050405020304" pitchFamily="18" charset="0"/>
                <a:cs typeface="Times New Roman" panose="02020603050405020304" pitchFamily="18" charset="0"/>
              </a:rPr>
              <a:t>D Flip Flop using 74LS74 IC</a:t>
            </a:r>
            <a:endParaRPr lang="en-US" sz="3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06307-7DBE-E02C-0D40-1C0DF035EB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E6390A-E60D-35C1-B938-91FB78062679}"/>
              </a:ext>
            </a:extLst>
          </p:cNvPr>
          <p:cNvSpPr txBox="1"/>
          <p:nvPr/>
        </p:nvSpPr>
        <p:spPr>
          <a:xfrm>
            <a:off x="441960" y="1259933"/>
            <a:ext cx="2463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Truth Table:</a:t>
            </a:r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EA39F5-D55B-9B61-4A97-C9F87B2F8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60" y="1475376"/>
            <a:ext cx="5466080" cy="516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9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A92871FC-C926-D395-AF85-2DC7B9247F4C}"/>
              </a:ext>
            </a:extLst>
          </p:cNvPr>
          <p:cNvSpPr/>
          <p:nvPr/>
        </p:nvSpPr>
        <p:spPr>
          <a:xfrm rot="10800000" flipV="1">
            <a:off x="1178688" y="334415"/>
            <a:ext cx="10037817" cy="574025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THANK YOU</a:t>
            </a: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Team – D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DCA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DDB01-1AC7-EEC6-6E0B-7FB335FADB2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68655" y="2276981"/>
            <a:ext cx="3657884" cy="12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70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321</Words>
  <Application>Microsoft Office PowerPoint</Application>
  <PresentationFormat>Widescreen</PresentationFormat>
  <Paragraphs>94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Gill Sans MT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PUDI DHILLESWARARAO</dc:creator>
  <cp:lastModifiedBy>neetha raju</cp:lastModifiedBy>
  <cp:revision>41</cp:revision>
  <dcterms:created xsi:type="dcterms:W3CDTF">2024-01-25T04:04:03Z</dcterms:created>
  <dcterms:modified xsi:type="dcterms:W3CDTF">2026-09-21T02:34:35Z</dcterms:modified>
</cp:coreProperties>
</file>